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6" r:id="rId5"/>
    <p:sldId id="2146847054" r:id="rId6"/>
    <p:sldId id="262" r:id="rId7"/>
    <p:sldId id="265" r:id="rId8"/>
    <p:sldId id="266" r:id="rId9"/>
    <p:sldId id="2146847056" r:id="rId10"/>
    <p:sldId id="2146847057" r:id="rId11"/>
    <p:sldId id="267" r:id="rId12"/>
    <p:sldId id="268" r:id="rId13"/>
    <p:sldId id="2146847055" r:id="rId14"/>
    <p:sldId id="269"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C3D9CC-52A4-7BB9-5926-A17EAD909109}" v="32" dt="2024-12-19T12:09:51.9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60"/>
  </p:normalViewPr>
  <p:slideViewPr>
    <p:cSldViewPr snapToGrid="0">
      <p:cViewPr varScale="1">
        <p:scale>
          <a:sx n="104" d="100"/>
          <a:sy n="104" d="100"/>
        </p:scale>
        <p:origin x="308" y="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4/19/2026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4/19/2026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4/19/2026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4/19/2026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4/19/2026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4/19/2026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4/19/2026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4/19/2026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4/19/2026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4/19/2026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4/19/2026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4/19/2026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hyperlink" Target="https://drive.google.com/file/d/1nz9J7SdbwSFpCRDFwqQx5m6cHbG2ur27/view?usp=sharing" TargetMode="External"/><Relationship Id="rId2" Type="http://schemas.openxmlformats.org/officeDocument/2006/relationships/hyperlink" Target="https://github.com/sheetal-092/INTERNSHIP_SUBMISSION.git"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eveloper.mozilla.org/" TargetMode="External"/><Relationship Id="rId2" Type="http://schemas.openxmlformats.org/officeDocument/2006/relationships/hyperlink" Target="https://www.w3schools.com/" TargetMode="External"/><Relationship Id="rId1" Type="http://schemas.openxmlformats.org/officeDocument/2006/relationships/slideLayout" Target="../slideLayouts/slideLayout2.xml"/><Relationship Id="rId6" Type="http://schemas.openxmlformats.org/officeDocument/2006/relationships/hyperlink" Target="https://docs.djangoproject.com/" TargetMode="External"/><Relationship Id="rId5" Type="http://schemas.openxmlformats.org/officeDocument/2006/relationships/hyperlink" Target="https://nodejs.org/" TargetMode="External"/><Relationship Id="rId4" Type="http://schemas.openxmlformats.org/officeDocument/2006/relationships/hyperlink" Target="https://reactjs.or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IN" dirty="0"/>
              <a:t>MEDIFEEDBACK PORTAL</a:t>
            </a:r>
            <a:endParaRPr lang="en-US" b="1" dirty="0">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CAPSTONE PROJECT</a:t>
            </a:r>
          </a:p>
        </p:txBody>
      </p:sp>
      <p:sp>
        <p:nvSpPr>
          <p:cNvPr id="4" name="TextBox 3"/>
          <p:cNvSpPr txBox="1"/>
          <p:nvPr/>
        </p:nvSpPr>
        <p:spPr>
          <a:xfrm>
            <a:off x="2957970" y="4304067"/>
            <a:ext cx="7980183" cy="1323439"/>
          </a:xfrm>
          <a:prstGeom prst="rect">
            <a:avLst/>
          </a:prstGeom>
          <a:noFill/>
        </p:spPr>
        <p:txBody>
          <a:bodyPr wrap="square" lIns="91440" tIns="45720" rIns="91440" bIns="45720" rtlCol="0" anchor="t">
            <a:spAutoFit/>
          </a:bodyPr>
          <a:lstStyle/>
          <a:p>
            <a:r>
              <a:rPr lang="en-US" sz="2000" dirty="0">
                <a:solidFill>
                  <a:schemeClr val="accent1">
                    <a:lumMod val="75000"/>
                  </a:schemeClr>
                </a:solidFill>
                <a:latin typeface="Arial" pitchFamily="34" charset="0"/>
                <a:cs typeface="Arial" pitchFamily="34" charset="0"/>
              </a:rPr>
              <a:t>Presented By:</a:t>
            </a:r>
          </a:p>
          <a:p>
            <a:r>
              <a:rPr lang="en-US" sz="2000" dirty="0">
                <a:solidFill>
                  <a:schemeClr val="accent1">
                    <a:lumMod val="75000"/>
                  </a:schemeClr>
                </a:solidFill>
                <a:latin typeface="Arial" pitchFamily="34" charset="0"/>
                <a:cs typeface="Arial" pitchFamily="34" charset="0"/>
              </a:rPr>
              <a:t>GULLAPALLI SHEETAL</a:t>
            </a:r>
          </a:p>
          <a:p>
            <a:r>
              <a:rPr lang="en-US" sz="2000" dirty="0">
                <a:solidFill>
                  <a:schemeClr val="accent1">
                    <a:lumMod val="75000"/>
                  </a:schemeClr>
                </a:solidFill>
                <a:latin typeface="Arial" pitchFamily="34" charset="0"/>
                <a:cs typeface="Arial" pitchFamily="34" charset="0"/>
              </a:rPr>
              <a:t>KL UNIVERSITY – HYDERABAD BACHUPALLY</a:t>
            </a:r>
          </a:p>
          <a:p>
            <a:r>
              <a:rPr lang="en-US" sz="2000" dirty="0">
                <a:solidFill>
                  <a:schemeClr val="accent1">
                    <a:lumMod val="75000"/>
                  </a:schemeClr>
                </a:solidFill>
                <a:latin typeface="Arial" pitchFamily="34" charset="0"/>
                <a:cs typeface="Arial" pitchFamily="34" charset="0"/>
              </a:rPr>
              <a:t>AICTE ID - </a:t>
            </a:r>
            <a:r>
              <a:rPr lang="en-IN" dirty="0"/>
              <a:t>STU681edf42b90491746853698</a:t>
            </a:r>
            <a:endParaRPr lang="en-US" sz="2000" dirty="0">
              <a:solidFill>
                <a:schemeClr val="accent1">
                  <a:lumMod val="75000"/>
                </a:schemeClr>
              </a:solidFill>
              <a:latin typeface="Arial" pitchFamily="34" charset="0"/>
              <a:cs typeface="Arial" pitchFamily="34" charset="0"/>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r>
              <a:rPr lang="en-US" sz="2000" dirty="0">
                <a:latin typeface="Arial"/>
                <a:ea typeface="+mn-lt"/>
                <a:cs typeface="Arial"/>
              </a:rPr>
              <a:t>(Should not include 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pPr marL="305435" indent="-305435"/>
            <a:r>
              <a:rPr lang="en-US" sz="2000" b="1" dirty="0">
                <a:latin typeface="Arial"/>
                <a:ea typeface="+mn-lt"/>
                <a:cs typeface="+mn-lt"/>
              </a:rPr>
              <a:t>Algorithm &amp; Deployment (Step by Step  Procedure) </a:t>
            </a:r>
            <a:endParaRPr lang="en-US" dirty="0">
              <a:latin typeface="Arial"/>
              <a:cs typeface="Calibri"/>
            </a:endParaRPr>
          </a:p>
          <a:p>
            <a:pPr marL="305435" indent="-305435"/>
            <a:r>
              <a:rPr lang="en-US" sz="2000" b="1" dirty="0">
                <a:latin typeface="Arial"/>
                <a:ea typeface="+mn-lt"/>
                <a:cs typeface="Arial"/>
              </a:rPr>
              <a:t>Result</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Scope(Optional)</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6" name="Rectangle 2">
            <a:extLst>
              <a:ext uri="{FF2B5EF4-FFF2-40B4-BE49-F238E27FC236}">
                <a16:creationId xmlns:a16="http://schemas.microsoft.com/office/drawing/2014/main" id="{E6FA226B-B793-1ABD-FBA7-D34D3073B2DB}"/>
              </a:ext>
            </a:extLst>
          </p:cNvPr>
          <p:cNvSpPr>
            <a:spLocks noGrp="1" noChangeArrowheads="1"/>
          </p:cNvSpPr>
          <p:nvPr>
            <p:ph idx="1"/>
          </p:nvPr>
        </p:nvSpPr>
        <p:spPr bwMode="auto">
          <a:xfrm>
            <a:off x="581192" y="1978787"/>
            <a:ext cx="10508209"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lnSpc>
                <a:spcPct val="100000"/>
              </a:lnSpc>
              <a:spcBef>
                <a:spcPct val="0"/>
              </a:spcBef>
              <a:spcAft>
                <a:spcPct val="0"/>
              </a:spcAft>
              <a:buClrTx/>
              <a:buSzTx/>
              <a:buFontTx/>
              <a:buChar char="•"/>
            </a:pPr>
            <a:r>
              <a:rPr lang="en-US" sz="1800" dirty="0"/>
              <a:t>Patient satisfaction is a key indicator of healthcare quality and hospital performance. Traditional feedback methods, like paper forms, are often inefficient and difficult to analyze. To address this, there is a growing need for a digital system that captures patient feedback effectively and provides actionable insights. This project focuses on developing a user-friendly satisfaction survey platform that collects and analyzes patient experiences related to services, staff behavior, cleanliness, and overall care. The system aims to support hospital management in identifying areas for improvement, enhancing patient-centered care, and promoting transparency and accountability within the healthcare environment.</a:t>
            </a:r>
          </a:p>
          <a:p>
            <a:pPr marL="0" lvl="0" indent="0" defTabSz="914400" eaLnBrk="0" fontAlgn="base" hangingPunct="0">
              <a:lnSpc>
                <a:spcPct val="100000"/>
              </a:lnSpc>
              <a:spcBef>
                <a:spcPct val="0"/>
              </a:spcBef>
              <a:spcAft>
                <a:spcPct val="0"/>
              </a:spcAft>
              <a:buClrTx/>
              <a:buSzTx/>
              <a:buFontTx/>
              <a:buChar char="•"/>
            </a:pPr>
            <a:endParaRPr lang="en-US" sz="1800" dirty="0"/>
          </a:p>
          <a:p>
            <a:pPr marL="0" lvl="0" indent="0" defTabSz="914400" eaLnBrk="0" fontAlgn="base" hangingPunct="0">
              <a:lnSpc>
                <a:spcPct val="100000"/>
              </a:lnSpc>
              <a:spcBef>
                <a:spcPct val="0"/>
              </a:spcBef>
              <a:spcAft>
                <a:spcPct val="0"/>
              </a:spcAft>
              <a:buClrTx/>
              <a:buSzTx/>
              <a:buNone/>
            </a:pPr>
            <a:endParaRPr lang="en-US" sz="1800" dirty="0"/>
          </a:p>
          <a:p>
            <a:pPr marL="0" lvl="0" indent="0" defTabSz="914400" eaLnBrk="0" fontAlgn="base" hangingPunct="0">
              <a:lnSpc>
                <a:spcPct val="100000"/>
              </a:lnSpc>
              <a:spcBef>
                <a:spcPct val="0"/>
              </a:spcBef>
              <a:spcAft>
                <a:spcPct val="0"/>
              </a:spcAft>
              <a:buClrTx/>
              <a:buSzTx/>
              <a:buFontTx/>
              <a:buChar char="•"/>
            </a:pPr>
            <a:r>
              <a:rPr lang="en-US" sz="1800" dirty="0"/>
              <a:t>Hospitals often struggle to efficiently collect, analyze, and utilize patient feedback due to outdated, manual methods that are time-consuming and lack actionable insights. This limits their ability to identify service gaps and improve patient care. There is a need for a digital solution that enables structured, real time collection and analysis of patient satisfaction data to support data-driven decisions and enhance the overall healthcare experience.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4" name="Rectangle 2">
            <a:extLst>
              <a:ext uri="{FF2B5EF4-FFF2-40B4-BE49-F238E27FC236}">
                <a16:creationId xmlns:a16="http://schemas.microsoft.com/office/drawing/2014/main" id="{F6552339-C5B9-9E6D-7393-DDD014165665}"/>
              </a:ext>
            </a:extLst>
          </p:cNvPr>
          <p:cNvSpPr>
            <a:spLocks noGrp="1" noChangeArrowheads="1"/>
          </p:cNvSpPr>
          <p:nvPr>
            <p:ph idx="1"/>
          </p:nvPr>
        </p:nvSpPr>
        <p:spPr bwMode="auto">
          <a:xfrm>
            <a:off x="581025" y="345440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Frontend:</a:t>
            </a:r>
            <a:r>
              <a:rPr kumimoji="0" lang="en-US" altLang="en-US" sz="1800" b="0" i="0" u="none" strike="noStrike" cap="none" normalizeH="0" baseline="0">
                <a:ln>
                  <a:noFill/>
                </a:ln>
                <a:solidFill>
                  <a:schemeClr val="tx1"/>
                </a:solidFill>
                <a:effectLst/>
                <a:latin typeface="Arial" panose="020B0604020202020204" pitchFamily="34" charset="0"/>
              </a:rPr>
              <a:t> HTML, CSS, JavaScript, React.js (or Angular)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Backend:</a:t>
            </a:r>
            <a:r>
              <a:rPr kumimoji="0" lang="en-US" altLang="en-US" sz="1800" b="0" i="0" u="none" strike="noStrike" cap="none" normalizeH="0" baseline="0">
                <a:ln>
                  <a:noFill/>
                </a:ln>
                <a:solidFill>
                  <a:schemeClr val="tx1"/>
                </a:solidFill>
                <a:effectLst/>
                <a:latin typeface="Arial" panose="020B0604020202020204" pitchFamily="34" charset="0"/>
              </a:rPr>
              <a:t> Node.js with Express / Java (Spring Boot) / Python (Django or Flask)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Database:</a:t>
            </a:r>
            <a:r>
              <a:rPr kumimoji="0" lang="en-US" altLang="en-US" sz="1800" b="0" i="0" u="none" strike="noStrike" cap="none" normalizeH="0" baseline="0">
                <a:ln>
                  <a:noFill/>
                </a:ln>
                <a:solidFill>
                  <a:schemeClr val="tx1"/>
                </a:solidFill>
                <a:effectLst/>
                <a:latin typeface="Arial" panose="020B0604020202020204" pitchFamily="34" charset="0"/>
              </a:rPr>
              <a:t> MySQL / MongoDB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Authentication &amp; Security:</a:t>
            </a:r>
            <a:r>
              <a:rPr kumimoji="0" lang="en-US" altLang="en-US" sz="1800" b="0" i="0" u="none" strike="noStrike" cap="none" normalizeH="0" baseline="0">
                <a:ln>
                  <a:noFill/>
                </a:ln>
                <a:solidFill>
                  <a:schemeClr val="tx1"/>
                </a:solidFill>
                <a:effectLst/>
                <a:latin typeface="Arial" panose="020B0604020202020204" pitchFamily="34" charset="0"/>
              </a:rPr>
              <a:t> JWT (JSON Web Token), HTTPS, password hashing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Payment Gateway Integration:</a:t>
            </a:r>
            <a:r>
              <a:rPr kumimoji="0" lang="en-US" altLang="en-US" sz="1800" b="0" i="0" u="none" strike="noStrike" cap="none" normalizeH="0" baseline="0">
                <a:ln>
                  <a:noFill/>
                </a:ln>
                <a:solidFill>
                  <a:schemeClr val="tx1"/>
                </a:solidFill>
                <a:effectLst/>
                <a:latin typeface="Arial" panose="020B0604020202020204" pitchFamily="34" charset="0"/>
              </a:rPr>
              <a:t> PayPal / Razorpay / Stripe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Deployment:</a:t>
            </a:r>
            <a:r>
              <a:rPr kumimoji="0" lang="en-US" altLang="en-US" sz="1800" b="0" i="0" u="none" strike="noStrike" cap="none" normalizeH="0" baseline="0">
                <a:ln>
                  <a:noFill/>
                </a:ln>
                <a:solidFill>
                  <a:schemeClr val="tx1"/>
                </a:solidFill>
                <a:effectLst/>
                <a:latin typeface="Arial" panose="020B0604020202020204" pitchFamily="34" charset="0"/>
              </a:rPr>
              <a:t> AWS / Heroku / Azure / Netlify (for frontend)</a:t>
            </a:r>
          </a:p>
        </p:txBody>
      </p:sp>
    </p:spTree>
    <p:extLst>
      <p:ext uri="{BB962C8B-B14F-4D97-AF65-F5344CB8AC3E}">
        <p14:creationId xmlns:p14="http://schemas.microsoft.com/office/powerpoint/2010/main" val="3202024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pic>
        <p:nvPicPr>
          <p:cNvPr id="4" name="Picture 3">
            <a:extLst>
              <a:ext uri="{FF2B5EF4-FFF2-40B4-BE49-F238E27FC236}">
                <a16:creationId xmlns:a16="http://schemas.microsoft.com/office/drawing/2014/main" id="{E24869F3-B005-CBCF-39B7-D0CBA111F0D6}"/>
              </a:ext>
            </a:extLst>
          </p:cNvPr>
          <p:cNvPicPr>
            <a:picLocks noChangeAspect="1"/>
          </p:cNvPicPr>
          <p:nvPr/>
        </p:nvPicPr>
        <p:blipFill>
          <a:blip r:embed="rId2"/>
          <a:stretch>
            <a:fillRect/>
          </a:stretch>
        </p:blipFill>
        <p:spPr>
          <a:xfrm>
            <a:off x="3313933" y="1278681"/>
            <a:ext cx="3914674" cy="5327705"/>
          </a:xfrm>
          <a:prstGeom prst="rect">
            <a:avLst/>
          </a:prstGeom>
        </p:spPr>
      </p:pic>
    </p:spTree>
    <p:extLst>
      <p:ext uri="{BB962C8B-B14F-4D97-AF65-F5344CB8AC3E}">
        <p14:creationId xmlns:p14="http://schemas.microsoft.com/office/powerpoint/2010/main" val="4154508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A7E4E-383F-6C4A-51BA-316222E0714F}"/>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75299F62-7E25-09F6-F750-6AD485A768B4}"/>
              </a:ext>
            </a:extLst>
          </p:cNvPr>
          <p:cNvPicPr>
            <a:picLocks noChangeAspect="1"/>
          </p:cNvPicPr>
          <p:nvPr/>
        </p:nvPicPr>
        <p:blipFill>
          <a:blip r:embed="rId2"/>
          <a:stretch>
            <a:fillRect/>
          </a:stretch>
        </p:blipFill>
        <p:spPr>
          <a:xfrm>
            <a:off x="47156" y="-2447"/>
            <a:ext cx="6131266" cy="3574775"/>
          </a:xfrm>
          <a:prstGeom prst="rect">
            <a:avLst/>
          </a:prstGeom>
        </p:spPr>
      </p:pic>
      <p:pic>
        <p:nvPicPr>
          <p:cNvPr id="8" name="Picture 7">
            <a:extLst>
              <a:ext uri="{FF2B5EF4-FFF2-40B4-BE49-F238E27FC236}">
                <a16:creationId xmlns:a16="http://schemas.microsoft.com/office/drawing/2014/main" id="{DF5FA873-7C2F-6FA5-E1A8-C575971EAEF4}"/>
              </a:ext>
            </a:extLst>
          </p:cNvPr>
          <p:cNvPicPr>
            <a:picLocks noChangeAspect="1"/>
          </p:cNvPicPr>
          <p:nvPr/>
        </p:nvPicPr>
        <p:blipFill>
          <a:blip r:embed="rId3"/>
          <a:stretch>
            <a:fillRect/>
          </a:stretch>
        </p:blipFill>
        <p:spPr>
          <a:xfrm>
            <a:off x="6136646" y="-2447"/>
            <a:ext cx="6055354" cy="3454110"/>
          </a:xfrm>
          <a:prstGeom prst="rect">
            <a:avLst/>
          </a:prstGeom>
        </p:spPr>
      </p:pic>
      <p:sp>
        <p:nvSpPr>
          <p:cNvPr id="12" name="Content Placeholder 11">
            <a:extLst>
              <a:ext uri="{FF2B5EF4-FFF2-40B4-BE49-F238E27FC236}">
                <a16:creationId xmlns:a16="http://schemas.microsoft.com/office/drawing/2014/main" id="{33579FAE-C02B-3869-461A-8AB1792D62B1}"/>
              </a:ext>
            </a:extLst>
          </p:cNvPr>
          <p:cNvSpPr>
            <a:spLocks noGrp="1"/>
          </p:cNvSpPr>
          <p:nvPr>
            <p:ph idx="1"/>
          </p:nvPr>
        </p:nvSpPr>
        <p:spPr/>
        <p:txBody>
          <a:bodyPr/>
          <a:lstStyle/>
          <a:p>
            <a:endParaRPr lang="en-IN" dirty="0"/>
          </a:p>
        </p:txBody>
      </p:sp>
      <p:pic>
        <p:nvPicPr>
          <p:cNvPr id="14" name="Picture 13">
            <a:extLst>
              <a:ext uri="{FF2B5EF4-FFF2-40B4-BE49-F238E27FC236}">
                <a16:creationId xmlns:a16="http://schemas.microsoft.com/office/drawing/2014/main" id="{2F813F77-45DB-54B8-B64B-B3E45DD4A981}"/>
              </a:ext>
            </a:extLst>
          </p:cNvPr>
          <p:cNvPicPr>
            <a:picLocks noChangeAspect="1"/>
          </p:cNvPicPr>
          <p:nvPr/>
        </p:nvPicPr>
        <p:blipFill>
          <a:blip r:embed="rId4"/>
          <a:stretch>
            <a:fillRect/>
          </a:stretch>
        </p:blipFill>
        <p:spPr>
          <a:xfrm>
            <a:off x="47156" y="3429000"/>
            <a:ext cx="6048843" cy="3477080"/>
          </a:xfrm>
          <a:prstGeom prst="rect">
            <a:avLst/>
          </a:prstGeom>
        </p:spPr>
      </p:pic>
      <p:pic>
        <p:nvPicPr>
          <p:cNvPr id="16" name="Picture 15">
            <a:extLst>
              <a:ext uri="{FF2B5EF4-FFF2-40B4-BE49-F238E27FC236}">
                <a16:creationId xmlns:a16="http://schemas.microsoft.com/office/drawing/2014/main" id="{545D416A-F135-534F-2A94-D686FC250A4A}"/>
              </a:ext>
            </a:extLst>
          </p:cNvPr>
          <p:cNvPicPr>
            <a:picLocks noChangeAspect="1"/>
          </p:cNvPicPr>
          <p:nvPr/>
        </p:nvPicPr>
        <p:blipFill>
          <a:blip r:embed="rId5"/>
          <a:stretch>
            <a:fillRect/>
          </a:stretch>
        </p:blipFill>
        <p:spPr>
          <a:xfrm>
            <a:off x="6095999" y="3451663"/>
            <a:ext cx="6186527" cy="3406337"/>
          </a:xfrm>
          <a:prstGeom prst="rect">
            <a:avLst/>
          </a:prstGeom>
        </p:spPr>
      </p:pic>
    </p:spTree>
    <p:extLst>
      <p:ext uri="{BB962C8B-B14F-4D97-AF65-F5344CB8AC3E}">
        <p14:creationId xmlns:p14="http://schemas.microsoft.com/office/powerpoint/2010/main" val="819957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8308C-BEA6-27EE-D9E6-B71570F8EB5B}"/>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5FED022E-42DF-39BE-F11C-17AD5D94B5ED}"/>
              </a:ext>
            </a:extLst>
          </p:cNvPr>
          <p:cNvPicPr>
            <a:picLocks noChangeAspect="1"/>
          </p:cNvPicPr>
          <p:nvPr/>
        </p:nvPicPr>
        <p:blipFill>
          <a:blip r:embed="rId2"/>
          <a:stretch>
            <a:fillRect/>
          </a:stretch>
        </p:blipFill>
        <p:spPr>
          <a:xfrm>
            <a:off x="0" y="31153"/>
            <a:ext cx="6301138" cy="3463654"/>
          </a:xfrm>
          <a:prstGeom prst="rect">
            <a:avLst/>
          </a:prstGeom>
        </p:spPr>
      </p:pic>
      <p:sp>
        <p:nvSpPr>
          <p:cNvPr id="8" name="Content Placeholder 7">
            <a:extLst>
              <a:ext uri="{FF2B5EF4-FFF2-40B4-BE49-F238E27FC236}">
                <a16:creationId xmlns:a16="http://schemas.microsoft.com/office/drawing/2014/main" id="{060B5ECD-B0C1-3893-D27B-E488FC9A3989}"/>
              </a:ext>
            </a:extLst>
          </p:cNvPr>
          <p:cNvSpPr>
            <a:spLocks noGrp="1"/>
          </p:cNvSpPr>
          <p:nvPr>
            <p:ph idx="1"/>
          </p:nvPr>
        </p:nvSpPr>
        <p:spPr/>
        <p:txBody>
          <a:bodyPr/>
          <a:lstStyle/>
          <a:p>
            <a:endParaRPr lang="en-IN" dirty="0"/>
          </a:p>
        </p:txBody>
      </p:sp>
      <p:pic>
        <p:nvPicPr>
          <p:cNvPr id="12" name="Picture 11">
            <a:extLst>
              <a:ext uri="{FF2B5EF4-FFF2-40B4-BE49-F238E27FC236}">
                <a16:creationId xmlns:a16="http://schemas.microsoft.com/office/drawing/2014/main" id="{A31508F5-F18D-8925-A055-A63C3763B96C}"/>
              </a:ext>
            </a:extLst>
          </p:cNvPr>
          <p:cNvPicPr>
            <a:picLocks noChangeAspect="1"/>
          </p:cNvPicPr>
          <p:nvPr/>
        </p:nvPicPr>
        <p:blipFill>
          <a:blip r:embed="rId3"/>
          <a:stretch>
            <a:fillRect/>
          </a:stretch>
        </p:blipFill>
        <p:spPr>
          <a:xfrm>
            <a:off x="6301138" y="31153"/>
            <a:ext cx="5871649" cy="3287214"/>
          </a:xfrm>
          <a:prstGeom prst="rect">
            <a:avLst/>
          </a:prstGeom>
        </p:spPr>
      </p:pic>
      <p:pic>
        <p:nvPicPr>
          <p:cNvPr id="14" name="Picture 13">
            <a:extLst>
              <a:ext uri="{FF2B5EF4-FFF2-40B4-BE49-F238E27FC236}">
                <a16:creationId xmlns:a16="http://schemas.microsoft.com/office/drawing/2014/main" id="{772C9FF6-6BB4-5E41-675C-A3E3FE4E5B36}"/>
              </a:ext>
            </a:extLst>
          </p:cNvPr>
          <p:cNvPicPr>
            <a:picLocks noChangeAspect="1"/>
          </p:cNvPicPr>
          <p:nvPr/>
        </p:nvPicPr>
        <p:blipFill>
          <a:blip r:embed="rId4"/>
          <a:stretch>
            <a:fillRect/>
          </a:stretch>
        </p:blipFill>
        <p:spPr>
          <a:xfrm>
            <a:off x="0" y="3494807"/>
            <a:ext cx="6310560" cy="3386962"/>
          </a:xfrm>
          <a:prstGeom prst="rect">
            <a:avLst/>
          </a:prstGeom>
        </p:spPr>
      </p:pic>
      <p:pic>
        <p:nvPicPr>
          <p:cNvPr id="16" name="Picture 15">
            <a:extLst>
              <a:ext uri="{FF2B5EF4-FFF2-40B4-BE49-F238E27FC236}">
                <a16:creationId xmlns:a16="http://schemas.microsoft.com/office/drawing/2014/main" id="{29FB82F0-96C1-C77E-5519-D38F11E86EC0}"/>
              </a:ext>
            </a:extLst>
          </p:cNvPr>
          <p:cNvPicPr>
            <a:picLocks noChangeAspect="1"/>
          </p:cNvPicPr>
          <p:nvPr/>
        </p:nvPicPr>
        <p:blipFill>
          <a:blip r:embed="rId5"/>
          <a:stretch>
            <a:fillRect/>
          </a:stretch>
        </p:blipFill>
        <p:spPr>
          <a:xfrm>
            <a:off x="6301138" y="3270974"/>
            <a:ext cx="5890862" cy="3587026"/>
          </a:xfrm>
          <a:prstGeom prst="rect">
            <a:avLst/>
          </a:prstGeom>
        </p:spPr>
      </p:pic>
    </p:spTree>
    <p:extLst>
      <p:ext uri="{BB962C8B-B14F-4D97-AF65-F5344CB8AC3E}">
        <p14:creationId xmlns:p14="http://schemas.microsoft.com/office/powerpoint/2010/main" val="993604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6" name="TextBox 5">
            <a:extLst>
              <a:ext uri="{FF2B5EF4-FFF2-40B4-BE49-F238E27FC236}">
                <a16:creationId xmlns:a16="http://schemas.microsoft.com/office/drawing/2014/main" id="{2BE0965B-661D-5DEE-8679-CD1A578E0327}"/>
              </a:ext>
            </a:extLst>
          </p:cNvPr>
          <p:cNvSpPr txBox="1"/>
          <p:nvPr/>
        </p:nvSpPr>
        <p:spPr>
          <a:xfrm>
            <a:off x="656649" y="1443841"/>
            <a:ext cx="10598448" cy="4801314"/>
          </a:xfrm>
          <a:prstGeom prst="rect">
            <a:avLst/>
          </a:prstGeom>
          <a:noFill/>
        </p:spPr>
        <p:txBody>
          <a:bodyPr wrap="square" rtlCol="0">
            <a:spAutoFit/>
          </a:bodyPr>
          <a:lstStyle/>
          <a:p>
            <a:r>
              <a:rPr lang="en-US" dirty="0"/>
              <a:t>This project aimed to improve patient engagement and satisfaction through an interactive hospital survey and feedback system. Key features include a real-time appreciation board, anonymous support community, personalized insights, and voice based feedback options—all integrated into a seamless web application.</a:t>
            </a:r>
          </a:p>
          <a:p>
            <a:endParaRPr lang="en-US" dirty="0"/>
          </a:p>
          <a:p>
            <a:r>
              <a:rPr lang="en-US" dirty="0" err="1"/>
              <a:t>Github</a:t>
            </a:r>
            <a:r>
              <a:rPr lang="en-US" dirty="0"/>
              <a:t> link</a:t>
            </a:r>
          </a:p>
          <a:p>
            <a:endParaRPr lang="en-US" dirty="0"/>
          </a:p>
          <a:p>
            <a:r>
              <a:rPr lang="en-US" dirty="0">
                <a:hlinkClick r:id="rId2"/>
              </a:rPr>
              <a:t>https://github.com/sheetal-092/INTERNSHIP_SUBMISSION.git</a:t>
            </a:r>
            <a:endParaRPr lang="en-US" dirty="0"/>
          </a:p>
          <a:p>
            <a:endParaRPr lang="en-US" dirty="0"/>
          </a:p>
          <a:p>
            <a:endParaRPr lang="en-IN" dirty="0"/>
          </a:p>
          <a:p>
            <a:r>
              <a:rPr lang="en-IN" dirty="0"/>
              <a:t>Video link</a:t>
            </a:r>
          </a:p>
          <a:p>
            <a:endParaRPr lang="en-IN" dirty="0"/>
          </a:p>
          <a:p>
            <a:r>
              <a:rPr lang="en-IN" dirty="0">
                <a:hlinkClick r:id="rId3"/>
              </a:rPr>
              <a:t>https://drive.google.com/file/d/1nz9J7SdbwSFpCRDFwqQx5m6cHbG2ur27/view?usp=sharing</a:t>
            </a:r>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1483293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3" name="TextBox 2">
            <a:extLst>
              <a:ext uri="{FF2B5EF4-FFF2-40B4-BE49-F238E27FC236}">
                <a16:creationId xmlns:a16="http://schemas.microsoft.com/office/drawing/2014/main" id="{E08C1417-4484-BF9F-231B-080FD38FE893}"/>
              </a:ext>
            </a:extLst>
          </p:cNvPr>
          <p:cNvSpPr txBox="1"/>
          <p:nvPr/>
        </p:nvSpPr>
        <p:spPr>
          <a:xfrm>
            <a:off x="644375" y="2454765"/>
            <a:ext cx="11089402" cy="923330"/>
          </a:xfrm>
          <a:prstGeom prst="rect">
            <a:avLst/>
          </a:prstGeom>
          <a:noFill/>
        </p:spPr>
        <p:txBody>
          <a:bodyPr wrap="square" rtlCol="0">
            <a:spAutoFit/>
          </a:bodyPr>
          <a:lstStyle/>
          <a:p>
            <a:r>
              <a:rPr lang="en-US" dirty="0"/>
              <a:t>This project aimed to improve patient engagement and satisfaction through an interactive hospital survey and feedback system. Key features include a real-time appreciation board, anonymous support community, personalized insights, and voice based feedback options—all integrated into a seamless web application.</a:t>
            </a:r>
            <a:endParaRPr lang="en-IN" dirty="0"/>
          </a:p>
        </p:txBody>
      </p:sp>
    </p:spTree>
    <p:extLst>
      <p:ext uri="{BB962C8B-B14F-4D97-AF65-F5344CB8AC3E}">
        <p14:creationId xmlns:p14="http://schemas.microsoft.com/office/powerpoint/2010/main" val="3183315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scope(Optional)</a:t>
            </a:r>
          </a:p>
        </p:txBody>
      </p:sp>
      <p:sp>
        <p:nvSpPr>
          <p:cNvPr id="7" name="TextBox 6">
            <a:extLst>
              <a:ext uri="{FF2B5EF4-FFF2-40B4-BE49-F238E27FC236}">
                <a16:creationId xmlns:a16="http://schemas.microsoft.com/office/drawing/2014/main" id="{720D41DC-5B59-B30F-A806-A8B91A753DD7}"/>
              </a:ext>
            </a:extLst>
          </p:cNvPr>
          <p:cNvSpPr txBox="1"/>
          <p:nvPr/>
        </p:nvSpPr>
        <p:spPr>
          <a:xfrm>
            <a:off x="460268" y="1890169"/>
            <a:ext cx="5983490" cy="2585323"/>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dirty="0">
                <a:latin typeface="Arial" panose="020B0604020202020204" pitchFamily="34" charset="0"/>
              </a:rPr>
              <a:t>Mobile application development (Android &amp; iOS).</a:t>
            </a:r>
          </a:p>
          <a:p>
            <a:pPr lvl="0" eaLnBrk="0" fontAlgn="base" hangingPunct="0">
              <a:spcBef>
                <a:spcPct val="0"/>
              </a:spcBef>
              <a:spcAft>
                <a:spcPct val="0"/>
              </a:spcAft>
              <a:buFontTx/>
              <a:buChar char="•"/>
            </a:pPr>
            <a:r>
              <a:rPr lang="en-US" altLang="en-US" dirty="0">
                <a:latin typeface="Arial" panose="020B0604020202020204" pitchFamily="34" charset="0"/>
              </a:rPr>
              <a:t>Integration of Artificial Intelligence for personalized recommendations.</a:t>
            </a:r>
          </a:p>
          <a:p>
            <a:pPr lvl="0" eaLnBrk="0" fontAlgn="base" hangingPunct="0">
              <a:spcBef>
                <a:spcPct val="0"/>
              </a:spcBef>
              <a:spcAft>
                <a:spcPct val="0"/>
              </a:spcAft>
              <a:buFontTx/>
              <a:buChar char="•"/>
            </a:pPr>
            <a:r>
              <a:rPr lang="en-US" altLang="en-US" dirty="0">
                <a:latin typeface="Arial" panose="020B0604020202020204" pitchFamily="34" charset="0"/>
              </a:rPr>
              <a:t>Advanced analytics dashboard for admin.</a:t>
            </a:r>
          </a:p>
          <a:p>
            <a:pPr lvl="0" eaLnBrk="0" fontAlgn="base" hangingPunct="0">
              <a:spcBef>
                <a:spcPct val="0"/>
              </a:spcBef>
              <a:spcAft>
                <a:spcPct val="0"/>
              </a:spcAft>
              <a:buFontTx/>
              <a:buChar char="•"/>
            </a:pPr>
            <a:r>
              <a:rPr lang="en-US" altLang="en-US" dirty="0">
                <a:latin typeface="Arial" panose="020B0604020202020204" pitchFamily="34" charset="0"/>
              </a:rPr>
              <a:t>Integration of Augmented Reality (AR) for virtual product try-on.</a:t>
            </a:r>
          </a:p>
          <a:p>
            <a:pPr lvl="0" eaLnBrk="0" fontAlgn="base" hangingPunct="0">
              <a:spcBef>
                <a:spcPct val="0"/>
              </a:spcBef>
              <a:spcAft>
                <a:spcPct val="0"/>
              </a:spcAft>
              <a:buFontTx/>
              <a:buChar char="•"/>
            </a:pPr>
            <a:r>
              <a:rPr lang="en-US" altLang="en-US" dirty="0">
                <a:latin typeface="Arial" panose="020B0604020202020204" pitchFamily="34" charset="0"/>
              </a:rPr>
              <a:t>Multi-language and multi-currency support for global reach.</a:t>
            </a:r>
          </a:p>
          <a:p>
            <a:endParaRPr lang="en-IN" dirty="0"/>
          </a:p>
        </p:txBody>
      </p:sp>
      <p:sp>
        <p:nvSpPr>
          <p:cNvPr id="9" name="Rectangle 4">
            <a:extLst>
              <a:ext uri="{FF2B5EF4-FFF2-40B4-BE49-F238E27FC236}">
                <a16:creationId xmlns:a16="http://schemas.microsoft.com/office/drawing/2014/main" id="{24447BED-B2E9-8084-66F3-D658C42A9BD0}"/>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4882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6" name="TextBox 5">
            <a:extLst>
              <a:ext uri="{FF2B5EF4-FFF2-40B4-BE49-F238E27FC236}">
                <a16:creationId xmlns:a16="http://schemas.microsoft.com/office/drawing/2014/main" id="{6DA1C606-08C5-DC13-61C7-A0A986F12CDC}"/>
              </a:ext>
            </a:extLst>
          </p:cNvPr>
          <p:cNvSpPr txBox="1"/>
          <p:nvPr/>
        </p:nvSpPr>
        <p:spPr>
          <a:xfrm>
            <a:off x="581192" y="2477077"/>
            <a:ext cx="6158392" cy="286232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W3Schools – </a:t>
            </a:r>
            <a:r>
              <a:rPr kumimoji="0" lang="en-US" altLang="en-US" sz="1800" b="0" i="0" u="none" strike="noStrike" cap="none" normalizeH="0" baseline="0" dirty="0">
                <a:ln>
                  <a:noFill/>
                </a:ln>
                <a:solidFill>
                  <a:schemeClr val="tx1"/>
                </a:solidFill>
                <a:effectLst/>
                <a:latin typeface="Arial" panose="020B0604020202020204" pitchFamily="34" charset="0"/>
                <a:hlinkClick r:id="rId2"/>
              </a:rPr>
              <a:t>https://www.w3schools.com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MDN Web Docs – </a:t>
            </a:r>
            <a:r>
              <a:rPr kumimoji="0" lang="en-US" altLang="en-US" sz="1800" b="0" i="0" u="none" strike="noStrike" cap="none" normalizeH="0" baseline="0" dirty="0">
                <a:ln>
                  <a:noFill/>
                </a:ln>
                <a:solidFill>
                  <a:schemeClr val="tx1"/>
                </a:solidFill>
                <a:effectLst/>
                <a:latin typeface="Arial" panose="020B0604020202020204" pitchFamily="34" charset="0"/>
                <a:hlinkClick r:id="rId3"/>
              </a:rPr>
              <a:t>https://developer.mozilla.org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React Official Documentation – </a:t>
            </a:r>
            <a:r>
              <a:rPr kumimoji="0" lang="en-US" altLang="en-US" sz="1800" b="0" i="0" u="none" strike="noStrike" cap="none" normalizeH="0" baseline="0" dirty="0">
                <a:ln>
                  <a:noFill/>
                </a:ln>
                <a:solidFill>
                  <a:schemeClr val="tx1"/>
                </a:solidFill>
                <a:effectLst/>
                <a:latin typeface="Arial" panose="020B0604020202020204" pitchFamily="34" charset="0"/>
                <a:hlinkClick r:id="rId4"/>
              </a:rPr>
              <a:t>https://reactjs.org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Node.js Documentation – </a:t>
            </a:r>
            <a:r>
              <a:rPr kumimoji="0" lang="en-US" altLang="en-US" sz="1800" b="0" i="0" u="none" strike="noStrike" cap="none" normalizeH="0" baseline="0" dirty="0">
                <a:ln>
                  <a:noFill/>
                </a:ln>
                <a:solidFill>
                  <a:schemeClr val="tx1"/>
                </a:solidFill>
                <a:effectLst/>
                <a:latin typeface="Arial" panose="020B0604020202020204" pitchFamily="34" charset="0"/>
                <a:hlinkClick r:id="rId5"/>
              </a:rPr>
              <a:t>https://nodejs.org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Django Documentation – </a:t>
            </a:r>
            <a:r>
              <a:rPr kumimoji="0" lang="en-US" altLang="en-US" sz="1800" b="0" i="0" u="none" strike="noStrike" cap="none" normalizeH="0" baseline="0" dirty="0">
                <a:ln>
                  <a:noFill/>
                </a:ln>
                <a:solidFill>
                  <a:schemeClr val="tx1"/>
                </a:solidFill>
                <a:effectLst/>
                <a:latin typeface="Arial" panose="020B0604020202020204" pitchFamily="34" charset="0"/>
                <a:hlinkClick r:id="rId6"/>
              </a:rPr>
              <a:t>https://docs.djangoproject.com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28950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c0fa2617-96bd-425d-8578-e93563fe37c5"/>
    <ds:schemaRef ds:uri="9162bd5b-4ed9-4da3-b376-05204580ba3f"/>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Future forward</Template>
  <TotalTime>80</TotalTime>
  <Words>546</Words>
  <Application>Microsoft Office PowerPoint</Application>
  <PresentationFormat>Widescreen</PresentationFormat>
  <Paragraphs>61</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Franklin Gothic Book</vt:lpstr>
      <vt:lpstr>Franklin Gothic Demi</vt:lpstr>
      <vt:lpstr>Wingdings 2</vt:lpstr>
      <vt:lpstr>DividendVTI</vt:lpstr>
      <vt:lpstr>MEDIFEEDBACK PORTAL</vt:lpstr>
      <vt:lpstr>OUTLINE</vt:lpstr>
      <vt:lpstr>Problem Statement</vt:lpstr>
      <vt:lpstr>System  Approach</vt:lpstr>
      <vt:lpstr>Algorithm &amp; Deployment</vt:lpstr>
      <vt:lpstr>PowerPoint Presentation</vt:lpstr>
      <vt:lpstr>PowerPoint Presentation</vt:lpstr>
      <vt:lpstr>Result</vt:lpstr>
      <vt:lpstr>Conclusion</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Gullapalli Sheetal</cp:lastModifiedBy>
  <cp:revision>49</cp:revision>
  <dcterms:created xsi:type="dcterms:W3CDTF">2021-05-26T16:50:10Z</dcterms:created>
  <dcterms:modified xsi:type="dcterms:W3CDTF">2026-04-19T06:19:27Z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